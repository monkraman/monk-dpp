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A3D"/>
                </a:solidFill>
              </a:rPr>
              <a:t>Digital Product Passport — Business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682"/>
                </a:solidFill>
              </a:rPr>
              <a:t>What the market offers, what Monkspaces should build, and how it can be sold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32004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64008" cy="1554480"/>
          </a:xfrm>
          <a:prstGeom prst="rect">
            <a:avLst/>
          </a:prstGeom>
          <a:solidFill>
            <a:srgbClr val="288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965960"/>
            <a:ext cx="2880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97682"/>
                </a:solidFill>
              </a:rPr>
              <a:t>Market</a:t>
            </a:r>
          </a:p>
          <a:p>
            <a:r>
              <a:rPr sz="2000" b="1">
                <a:solidFill>
                  <a:srgbClr val="162A3D"/>
                </a:solidFill>
              </a:rPr>
              <a:t>DPP platforms</a:t>
            </a:r>
          </a:p>
          <a:p>
            <a:r>
              <a:rPr sz="900">
                <a:solidFill>
                  <a:srgbClr val="697682"/>
                </a:solidFill>
              </a:rPr>
              <a:t>Growing compliance + traceability need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828800"/>
            <a:ext cx="32004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828800"/>
            <a:ext cx="64008" cy="1554480"/>
          </a:xfrm>
          <a:prstGeom prst="rect">
            <a:avLst/>
          </a:prstGeom>
          <a:solidFill>
            <a:srgbClr val="288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1965960"/>
            <a:ext cx="2880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97682"/>
                </a:solidFill>
              </a:rPr>
              <a:t>Our approach</a:t>
            </a:r>
          </a:p>
          <a:p>
            <a:r>
              <a:rPr sz="2000" b="1">
                <a:solidFill>
                  <a:srgbClr val="162A3D"/>
                </a:solidFill>
              </a:rPr>
              <a:t>Start Lean</a:t>
            </a:r>
          </a:p>
          <a:p>
            <a:r>
              <a:rPr sz="900">
                <a:solidFill>
                  <a:srgbClr val="697682"/>
                </a:solidFill>
              </a:rPr>
              <a:t>MVP first → pilot → scale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828800"/>
            <a:ext cx="32004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828800"/>
            <a:ext cx="64008" cy="1554480"/>
          </a:xfrm>
          <a:prstGeom prst="rect">
            <a:avLst/>
          </a:prstGeom>
          <a:solidFill>
            <a:srgbClr val="288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8" y="1965960"/>
            <a:ext cx="2880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97682"/>
                </a:solidFill>
              </a:rPr>
              <a:t>Business model</a:t>
            </a:r>
          </a:p>
          <a:p>
            <a:r>
              <a:rPr sz="2000" b="1">
                <a:solidFill>
                  <a:srgbClr val="162A3D"/>
                </a:solidFill>
              </a:rPr>
              <a:t>SaaS</a:t>
            </a:r>
          </a:p>
          <a:p>
            <a:r>
              <a:rPr sz="900">
                <a:solidFill>
                  <a:srgbClr val="697682"/>
                </a:solidFill>
              </a:rPr>
              <a:t>Setup + subscription + per DPP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77639"/>
            <a:ext cx="104241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8323A"/>
                </a:solidFill>
              </a:defRPr>
            </a:pPr>
            <a:r>
              <a:t>• Focus initially on a practical, affordable DPP product rather than building every enterprise feature.</a:t>
            </a:r>
          </a:p>
          <a:p>
            <a:pPr>
              <a:spcAft>
                <a:spcPts val="1300"/>
              </a:spcAft>
              <a:defRPr sz="1700">
                <a:solidFill>
                  <a:srgbClr val="28323A"/>
                </a:solidFill>
              </a:defRPr>
            </a:pPr>
            <a:r>
              <a:t>• Use a pilot to validate product-market fit before investing heavily in advanced integrations and certifications.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682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A3D"/>
                </a:solidFill>
              </a:rPr>
              <a:t>Competitor Landscape — Simple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682"/>
                </a:solidFill>
              </a:rPr>
              <a:t>Feature comparison based on publicly described capabilities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20140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2240280"/>
                <a:gridCol w="2240280"/>
                <a:gridCol w="2240280"/>
                <a:gridCol w="2240280"/>
              </a:tblGrid>
              <a:tr h="698862"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</a:rPr>
                        <a:t>Platform</a:t>
                      </a:r>
                    </a:p>
                  </a:txBody>
                  <a:tcPr>
                    <a:solidFill>
                      <a:srgbClr val="162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</a:rPr>
                        <a:t>Core DPP</a:t>
                      </a:r>
                    </a:p>
                  </a:txBody>
                  <a:tcPr>
                    <a:solidFill>
                      <a:srgbClr val="162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</a:rPr>
                        <a:t>Traceability</a:t>
                      </a:r>
                    </a:p>
                  </a:txBody>
                  <a:tcPr>
                    <a:solidFill>
                      <a:srgbClr val="162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</a:rPr>
                        <a:t>Supplier / data sharing</a:t>
                      </a:r>
                    </a:p>
                  </a:txBody>
                  <a:tcPr>
                    <a:solidFill>
                      <a:srgbClr val="162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</a:rPr>
                        <a:t>Integrations / advanced</a:t>
                      </a:r>
                    </a:p>
                  </a:txBody>
                  <a:tcPr>
                    <a:solidFill>
                      <a:srgbClr val="162A3D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8323A"/>
                          </a:solidFill>
                        </a:rPr>
                        <a:t>Minespider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8323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8323A"/>
                          </a:solidFill>
                        </a:rPr>
                        <a:t>✓ Strong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8323A"/>
                          </a:solidFill>
                        </a:rPr>
                        <a:t>✓ Permission-based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8323A"/>
                          </a:solidFill>
                        </a:rPr>
                        <a:t>API, blockchain, AI document extraction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8323A"/>
                          </a:solidFill>
                        </a:rPr>
                        <a:t>Circularise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8323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8323A"/>
                          </a:solidFill>
                        </a:rPr>
                        <a:t>✓ Strong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8323A"/>
                          </a:solidFill>
                        </a:rPr>
                        <a:t>✓ Supply-chain focus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8323A"/>
                          </a:solidFill>
                        </a:rPr>
                        <a:t>Traceability / circularity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8323A"/>
                          </a:solidFill>
                        </a:rPr>
                        <a:t>Kezzler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8323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8323A"/>
                          </a:solidFill>
                        </a:rPr>
                        <a:t>✓ End-to-end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8323A"/>
                          </a:solidFill>
                        </a:rPr>
                        <a:t>✓ Value-chain visibility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8323A"/>
                          </a:solidFill>
                        </a:rPr>
                        <a:t>ERP/WMS/MES APIs, automation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8323A"/>
                          </a:solidFill>
                        </a:rPr>
                        <a:t>dpp.cloud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8323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8323A"/>
                          </a:solidFill>
                        </a:rPr>
                        <a:t>✓ Product lifecycle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8323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8323A"/>
                          </a:solidFill>
                        </a:rPr>
                        <a:t>PIM/ERP, AI manuals, service features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8323A"/>
                          </a:solidFill>
                        </a:rPr>
                        <a:t>WIARA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8323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8323A"/>
                          </a:solidFill>
                        </a:rPr>
                        <a:t>Basic / DPP-focused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8323A"/>
                          </a:solidFill>
                        </a:rPr>
                        <a:t>Limited / plan-based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8323A"/>
                          </a:solidFill>
                        </a:rPr>
                        <a:t>ERP/PIM, templates, multilingual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886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8323A"/>
                          </a:solidFill>
                        </a:rPr>
                        <a:t>Monkspaces MVP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8323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8323A"/>
                          </a:solidFill>
                        </a:rPr>
                        <a:t>Basic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8323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8323A"/>
                          </a:solidFill>
                        </a:rPr>
                        <a:t>Basic API / export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88136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682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A3D"/>
                </a:solidFill>
              </a:rPr>
              <a:t>What Competitors Are Doing Well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682"/>
                </a:solidFill>
              </a:rPr>
              <a:t>The market is not just QR codes — leading platforms combine DPP with data, traceability and integrations.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07899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35607"/>
            <a:ext cx="1828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62A3D"/>
                </a:solidFill>
              </a:rPr>
              <a:t>Minespider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1426464"/>
            <a:ext cx="649224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28323A"/>
                </a:solidFill>
              </a:rPr>
              <a:t>Supply-chain traceability, provenance, ESG/carbon data, recycling, permissioned sharing, blockchain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481328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88758"/>
                </a:solidFill>
              </a:rPr>
              <a:t>Strong traceability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58568"/>
            <a:ext cx="107899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68296"/>
            <a:ext cx="1828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62A3D"/>
                </a:solidFill>
              </a:rPr>
              <a:t>Circularise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359151"/>
            <a:ext cx="649224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28323A"/>
                </a:solidFill>
              </a:rPr>
              <a:t>Supply-chain transparency and material traceability for circularity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414015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88758"/>
                </a:solidFill>
              </a:rPr>
              <a:t>Circular supply chains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191256"/>
            <a:ext cx="107899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00984"/>
            <a:ext cx="1828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62A3D"/>
                </a:solidFill>
              </a:rPr>
              <a:t>Kezzler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291839"/>
            <a:ext cx="649224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28323A"/>
                </a:solidFill>
              </a:rPr>
              <a:t>End-to-end product lifecycle, ERP/WMS/MES integrations, compliance workflows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346703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88758"/>
                </a:solidFill>
              </a:rPr>
              <a:t>Enterprise integrations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123944"/>
            <a:ext cx="107899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233672"/>
            <a:ext cx="1828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62A3D"/>
                </a:solidFill>
              </a:rPr>
              <a:t>dpp.cloud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4224528"/>
            <a:ext cx="649224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28323A"/>
                </a:solidFill>
              </a:rPr>
              <a:t>DPPs + customer touchpoints, PIM/ERP connectivity, AI manuals, service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279392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88758"/>
                </a:solidFill>
              </a:rPr>
              <a:t>SaaS + customer experience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056631"/>
            <a:ext cx="107899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166359"/>
            <a:ext cx="1828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62A3D"/>
                </a:solidFill>
              </a:rPr>
              <a:t>WIARA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5157216"/>
            <a:ext cx="649224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28323A"/>
                </a:solidFill>
              </a:rPr>
              <a:t>Low-cost entry, standardized DPPs, multilingual support, ERP/PIM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5212079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88758"/>
                </a:solidFill>
              </a:rPr>
              <a:t>Accessible SaaS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682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A3D"/>
                </a:solidFill>
              </a:rPr>
              <a:t>Our MVP — What We Actually Need to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682"/>
                </a:solidFill>
              </a:rPr>
              <a:t>Keep the first version simple, usable and sellable.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80160"/>
          <a:ext cx="112014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0700"/>
                <a:gridCol w="5600700"/>
              </a:tblGrid>
              <a:tr h="56007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MVP feature</a:t>
                      </a:r>
                    </a:p>
                  </a:txBody>
                  <a:tcPr>
                    <a:solidFill>
                      <a:srgbClr val="162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162A3D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8323A"/>
                          </a:solidFill>
                        </a:rPr>
                        <a:t>Create &amp; manage DPP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8323A"/>
                          </a:solidFill>
                        </a:rPr>
                        <a:t>Company creates product passports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8323A"/>
                          </a:solidFill>
                        </a:rPr>
                        <a:t>QR / public DPP page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8323A"/>
                          </a:solidFill>
                        </a:rPr>
                        <a:t>Consumer / stakeholder can access passport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8323A"/>
                          </a:solidFill>
                        </a:rPr>
                        <a:t>Product &amp; material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8323A"/>
                          </a:solidFill>
                        </a:rPr>
                        <a:t>Capture required product information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8323A"/>
                          </a:solidFill>
                        </a:rPr>
                        <a:t>Basic documents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8323A"/>
                          </a:solidFill>
                        </a:rPr>
                        <a:t>Store certificates / reports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8323A"/>
                          </a:solidFill>
                        </a:rPr>
                        <a:t>Basic audit trail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8323A"/>
                          </a:solidFill>
                        </a:rPr>
                        <a:t>Track important changes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8323A"/>
                          </a:solidFill>
                        </a:rPr>
                        <a:t>User / admin access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8323A"/>
                          </a:solidFill>
                        </a:rPr>
                        <a:t>Control who can create / manage DPPs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8323A"/>
                          </a:solidFill>
                        </a:rPr>
                        <a:t>Compliance-ready data 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8323A"/>
                          </a:solidFill>
                        </a:rPr>
                        <a:t>Keep the product ready for regulatory fields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89788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288758"/>
                </a:solidFill>
              </a:rPr>
              <a:t>Goal: a working DPP SaaS that can be demonstrated to a real pilot customer.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682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A3D"/>
                </a:solidFill>
              </a:rPr>
              <a:t>Phase 2 — Features We Add After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682"/>
                </a:solidFill>
              </a:rPr>
              <a:t>These features make the product more competitive, but do not need to block MVP launch.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80160"/>
          <a:ext cx="112014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0700"/>
                <a:gridCol w="5600700"/>
              </a:tblGrid>
              <a:tr h="56007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162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Why add later?</a:t>
                      </a:r>
                    </a:p>
                  </a:txBody>
                  <a:tcPr>
                    <a:solidFill>
                      <a:srgbClr val="162A3D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8323A"/>
                          </a:solidFill>
                        </a:rPr>
                        <a:t>Supplier portal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8323A"/>
                          </a:solidFill>
                        </a:rPr>
                        <a:t>Useful once multiple supply-chain actors are onboarded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8323A"/>
                          </a:solidFill>
                        </a:rPr>
                        <a:t>Bulk import / export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8323A"/>
                          </a:solidFill>
                        </a:rPr>
                        <a:t>Needed when product volume grows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8323A"/>
                          </a:solidFill>
                        </a:rPr>
                        <a:t>ERP / PIM integrations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8323A"/>
                          </a:solidFill>
                        </a:rPr>
                        <a:t>Important for enterprise customers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8323A"/>
                          </a:solidFill>
                        </a:rPr>
                        <a:t>Advanced compliance workflows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8323A"/>
                          </a:solidFill>
                        </a:rPr>
                        <a:t>Add when specific customer / regulation requires them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8323A"/>
                          </a:solidFill>
                        </a:rPr>
                        <a:t>Chain-of-custody / advanced traceability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8323A"/>
                          </a:solidFill>
                        </a:rPr>
                        <a:t>Build for industries where it creates clear 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8323A"/>
                          </a:solidFill>
                        </a:rPr>
                        <a:t>AI document / data extraction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8323A"/>
                          </a:solidFill>
                        </a:rPr>
                        <a:t>Reduce manual data entry at scale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8323A"/>
                          </a:solidFill>
                        </a:rPr>
                        <a:t>Blockchain anchoring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8323A"/>
                          </a:solidFill>
                        </a:rPr>
                        <a:t>Optional; only if customers need immutable shared 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89788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E08B2D"/>
                </a:solidFill>
              </a:rPr>
              <a:t>Principle: sell the core product first; add expensive features when customer demand justifies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682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A3D"/>
                </a:solidFill>
              </a:rPr>
              <a:t>Cost to Launch &amp; Operate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682"/>
                </a:solidFill>
              </a:rPr>
              <a:t>Infrastructure is predictable; external compliance and testing can add separate costs.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80160"/>
          <a:ext cx="11201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/>
                <a:gridCol w="3733800"/>
                <a:gridCol w="3733800"/>
              </a:tblGrid>
              <a:tr h="587828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Cost</a:t>
                      </a:r>
                    </a:p>
                  </a:txBody>
                  <a:tcPr>
                    <a:solidFill>
                      <a:srgbClr val="162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Indicative range</a:t>
                      </a:r>
                    </a:p>
                  </a:txBody>
                  <a:tcPr>
                    <a:solidFill>
                      <a:srgbClr val="162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162A3D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8323A"/>
                          </a:solidFill>
                        </a:rPr>
                        <a:t>MVP hosting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8323A"/>
                          </a:solidFill>
                        </a:rPr>
                        <a:t>₹4K–5K / 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8323A"/>
                          </a:solidFill>
                        </a:rPr>
                        <a:t>Server + DB + storage + monitoring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8323A"/>
                          </a:solidFill>
                        </a:rPr>
                        <a:t>Annual compliance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8323A"/>
                          </a:solidFill>
                        </a:rPr>
                        <a:t>~₹95K–3.45L / year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8323A"/>
                          </a:solidFill>
                        </a:rPr>
                        <a:t>Depends on scope and external support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8323A"/>
                          </a:solidFill>
                        </a:rPr>
                        <a:t>External penetration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8323A"/>
                          </a:solidFill>
                        </a:rPr>
                        <a:t>₹50K–1.5L /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8323A"/>
                          </a:solidFill>
                        </a:rPr>
                        <a:t>Independent security 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8323A"/>
                          </a:solidFill>
                        </a:rPr>
                        <a:t>GDPR / legal support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8323A"/>
                          </a:solidFill>
                        </a:rPr>
                        <a:t>₹30K–80K+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8323A"/>
                          </a:solidFill>
                        </a:rPr>
                        <a:t>Depends on legal scope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8323A"/>
                          </a:solidFill>
                        </a:rPr>
                        <a:t>ISO 27001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8323A"/>
                          </a:solidFill>
                        </a:rPr>
                        <a:t>₹2–5L in Year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8323A"/>
                          </a:solidFill>
                        </a:rPr>
                        <a:t>If certification is pursued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8323A"/>
                          </a:solidFill>
                        </a:rPr>
                        <a:t>Realistic Year 1 budget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8323A"/>
                          </a:solidFill>
                        </a:rPr>
                        <a:t>₹3–8L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8323A"/>
                          </a:solidFill>
                        </a:rPr>
                        <a:t>Source estimate incl. launch/compliance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532120"/>
            <a:ext cx="33375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5532120"/>
            <a:ext cx="64008" cy="685800"/>
          </a:xfrm>
          <a:prstGeom prst="rect">
            <a:avLst/>
          </a:prstGeom>
          <a:solidFill>
            <a:srgbClr val="288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5669280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97682"/>
                </a:solidFill>
              </a:rPr>
              <a:t>MVP hosting</a:t>
            </a:r>
          </a:p>
          <a:p>
            <a:r>
              <a:rPr sz="2000" b="1">
                <a:solidFill>
                  <a:srgbClr val="162A3D"/>
                </a:solidFill>
              </a:rPr>
              <a:t>₹48–60K / year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5532120"/>
            <a:ext cx="33375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5532120"/>
            <a:ext cx="64008" cy="685800"/>
          </a:xfrm>
          <a:prstGeom prst="rect">
            <a:avLst/>
          </a:prstGeom>
          <a:solidFill>
            <a:srgbClr val="288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5669280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97682"/>
                </a:solidFill>
              </a:rPr>
              <a:t>Year 2+</a:t>
            </a:r>
          </a:p>
          <a:p>
            <a:r>
              <a:rPr sz="2000" b="1">
                <a:solidFill>
                  <a:srgbClr val="162A3D"/>
                </a:solidFill>
              </a:rPr>
              <a:t>₹2.2–5.5L / year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5532120"/>
            <a:ext cx="33375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5532120"/>
            <a:ext cx="64008" cy="685800"/>
          </a:xfrm>
          <a:prstGeom prst="rect">
            <a:avLst/>
          </a:prstGeom>
          <a:solidFill>
            <a:srgbClr val="E0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5669280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97682"/>
                </a:solidFill>
              </a:rPr>
              <a:t>Extra costs</a:t>
            </a:r>
          </a:p>
          <a:p>
            <a:r>
              <a:rPr sz="2000" b="1">
                <a:solidFill>
                  <a:srgbClr val="162A3D"/>
                </a:solidFill>
              </a:rPr>
              <a:t>Audits / legal / 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682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A3D"/>
                </a:solidFill>
              </a:rPr>
              <a:t>Proposed Business Model — DPP as SaaS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682"/>
                </a:solidFill>
              </a:rPr>
              <a:t>Recurring revenue rather than one-time software development.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64008" cy="1417320"/>
          </a:xfrm>
          <a:prstGeom prst="rect">
            <a:avLst/>
          </a:prstGeom>
          <a:solidFill>
            <a:srgbClr val="288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45919"/>
            <a:ext cx="301752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97682"/>
                </a:solidFill>
              </a:rPr>
              <a:t>1. Setup / Onboarding</a:t>
            </a:r>
          </a:p>
          <a:p>
            <a:r>
              <a:rPr sz="2000" b="1">
                <a:solidFill>
                  <a:srgbClr val="162A3D"/>
                </a:solidFill>
              </a:rPr>
              <a:t>₹25K–1L</a:t>
            </a:r>
          </a:p>
          <a:p>
            <a:r>
              <a:rPr sz="900">
                <a:solidFill>
                  <a:srgbClr val="697682"/>
                </a:solidFill>
              </a:rPr>
              <a:t>Depends on product complexity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0876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508760"/>
            <a:ext cx="64008" cy="1417320"/>
          </a:xfrm>
          <a:prstGeom prst="rect">
            <a:avLst/>
          </a:prstGeom>
          <a:solidFill>
            <a:srgbClr val="288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645919"/>
            <a:ext cx="301752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97682"/>
                </a:solidFill>
              </a:rPr>
              <a:t>2. Annual Platform Fee</a:t>
            </a:r>
          </a:p>
          <a:p>
            <a:r>
              <a:rPr sz="2000" b="1">
                <a:solidFill>
                  <a:srgbClr val="162A3D"/>
                </a:solidFill>
              </a:rPr>
              <a:t>₹10K–50K</a:t>
            </a:r>
          </a:p>
          <a:p>
            <a:r>
              <a:rPr sz="900">
                <a:solidFill>
                  <a:srgbClr val="697682"/>
                </a:solidFill>
              </a:rPr>
              <a:t>Subscription / organization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50876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508760"/>
            <a:ext cx="64008" cy="1417320"/>
          </a:xfrm>
          <a:prstGeom prst="rect">
            <a:avLst/>
          </a:prstGeom>
          <a:solidFill>
            <a:srgbClr val="288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8" y="1645919"/>
            <a:ext cx="301752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97682"/>
                </a:solidFill>
              </a:rPr>
              <a:t>3. Per DPP / SKU</a:t>
            </a:r>
          </a:p>
          <a:p>
            <a:r>
              <a:rPr sz="2000" b="1">
                <a:solidFill>
                  <a:srgbClr val="162A3D"/>
                </a:solidFill>
              </a:rPr>
              <a:t>₹10–100</a:t>
            </a:r>
          </a:p>
          <a:p>
            <a:r>
              <a:rPr sz="900">
                <a:solidFill>
                  <a:srgbClr val="697682"/>
                </a:solidFill>
              </a:rPr>
              <a:t>Volume-based pricing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429000"/>
            <a:ext cx="104241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8323A"/>
                </a:solidFill>
              </a:defRPr>
            </a:pPr>
            <a:r>
              <a:t>• Customer gets access to the DPP platform instead of buying a one-off custom application.</a:t>
            </a:r>
          </a:p>
          <a:p>
            <a:pPr>
              <a:spcAft>
                <a:spcPts val="1300"/>
              </a:spcAft>
              <a:defRPr sz="1600">
                <a:solidFill>
                  <a:srgbClr val="28323A"/>
                </a:solidFill>
              </a:defRPr>
            </a:pPr>
            <a:r>
              <a:t>• Revenue grows as customers add products, suppliers and DPPs.</a:t>
            </a:r>
          </a:p>
          <a:p>
            <a:pPr>
              <a:spcAft>
                <a:spcPts val="1300"/>
              </a:spcAft>
              <a:defRPr sz="1600">
                <a:solidFill>
                  <a:srgbClr val="28323A"/>
                </a:solidFill>
              </a:defRPr>
            </a:pPr>
            <a:r>
              <a:t>• Optional paid add-ons: integrations, supplier portal, advanced traceability, AI features and custom support.</a:t>
            </a:r>
          </a:p>
          <a:p>
            <a:pPr>
              <a:spcAft>
                <a:spcPts val="1300"/>
              </a:spcAft>
              <a:defRPr sz="1600">
                <a:solidFill>
                  <a:srgbClr val="28323A"/>
                </a:solidFill>
              </a:defRPr>
            </a:pPr>
            <a:r>
              <a:t>• Positioning: affordable mid-market SaaS rather than a large enterprise implementation.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682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A3D"/>
                </a:solidFill>
              </a:rPr>
              <a:t>Proposed Roadmap — From MVP to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682"/>
                </a:solidFill>
              </a:rPr>
              <a:t>A simple path that limits initial risk.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417320"/>
            <a:ext cx="566928" cy="566928"/>
          </a:xfrm>
          <a:prstGeom prst="ellipse">
            <a:avLst/>
          </a:prstGeom>
          <a:solidFill>
            <a:srgbClr val="288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399032"/>
            <a:ext cx="2103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62A3D"/>
                </a:solidFill>
              </a:rPr>
              <a:t>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399032"/>
            <a:ext cx="7315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8323A"/>
                </a:solidFill>
              </a:rPr>
              <a:t>Build core DPP + QR + data + admin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1984248"/>
            <a:ext cx="36576" cy="502920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2377440"/>
            <a:ext cx="566928" cy="566928"/>
          </a:xfrm>
          <a:prstGeom prst="ellipse">
            <a:avLst/>
          </a:prstGeom>
          <a:solidFill>
            <a:srgbClr val="288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359152"/>
            <a:ext cx="2103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62A3D"/>
                </a:solidFill>
              </a:rPr>
              <a:t>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359152"/>
            <a:ext cx="7315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8323A"/>
                </a:solidFill>
              </a:rPr>
              <a:t>Test with 1–2 real companies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8992" y="2944368"/>
            <a:ext cx="36576" cy="502920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3337560"/>
            <a:ext cx="566928" cy="566928"/>
          </a:xfrm>
          <a:prstGeom prst="ellipse">
            <a:avLst/>
          </a:prstGeom>
          <a:solidFill>
            <a:srgbClr val="288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319272"/>
            <a:ext cx="2103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62A3D"/>
                </a:solidFill>
              </a:rPr>
              <a:t>Paid SaaS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319272"/>
            <a:ext cx="7315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8323A"/>
                </a:solidFill>
              </a:rPr>
              <a:t>Convert pilot into subscription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8992" y="3904488"/>
            <a:ext cx="36576" cy="502920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4297680"/>
            <a:ext cx="566928" cy="566928"/>
          </a:xfrm>
          <a:prstGeom prst="ellipse">
            <a:avLst/>
          </a:prstGeom>
          <a:solidFill>
            <a:srgbClr val="288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279392"/>
            <a:ext cx="2103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62A3D"/>
                </a:solidFill>
              </a:rPr>
              <a:t>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279392"/>
            <a:ext cx="7315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8323A"/>
                </a:solidFill>
              </a:rPr>
              <a:t>Supplier portal + integrations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78992" y="4864608"/>
            <a:ext cx="36576" cy="502920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5257800"/>
            <a:ext cx="566928" cy="566928"/>
          </a:xfrm>
          <a:prstGeom prst="ellipse">
            <a:avLst/>
          </a:prstGeom>
          <a:solidFill>
            <a:srgbClr val="288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5239512"/>
            <a:ext cx="2103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62A3D"/>
                </a:solidFill>
              </a:rPr>
              <a:t>Enterprise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5239512"/>
            <a:ext cx="7315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8323A"/>
                </a:solidFill>
              </a:rPr>
              <a:t>Advanced compliance + security + ISO as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0807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288758"/>
                </a:solidFill>
              </a:rPr>
              <a:t>Recommendation: validate demand before spending heavily on advanced enterprise features.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682"/>
                </a:solidFill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